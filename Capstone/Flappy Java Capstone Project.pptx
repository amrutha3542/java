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-8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43312"/>
            <a:ext cx="11049000" cy="144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1624012"/>
            <a:ext cx="11601450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>
                <a:solidFill>
                  <a:srgbClr val="818CF8"/>
                </a:solidFill>
                <a:latin typeface="Poppins"/>
              </a:rPr>
              <a:t>FLAPPY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728912"/>
            <a:ext cx="11049000" cy="312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Lato"/>
              </a:rPr>
              <a:t>Endless </a:t>
            </a:r>
            <a:r>
              <a:rPr sz="1800" b="0" i="0" u="none" smtClean="0">
                <a:solidFill>
                  <a:srgbClr val="CBD5E1"/>
                </a:solidFill>
                <a:latin typeface="Lato"/>
              </a:rPr>
              <a:t>Flyer</a:t>
            </a:r>
            <a:endParaRPr sz="1800" b="0" i="0" u="none">
              <a:solidFill>
                <a:srgbClr val="CBD5E1"/>
              </a:solidFill>
              <a:latin typeface="La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4033837"/>
            <a:ext cx="11049000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500" b="0" i="0" u="none" smtClean="0">
                <a:solidFill>
                  <a:srgbClr val="F8FAFC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Student</a:t>
            </a:r>
            <a:r>
              <a:rPr lang="en-US" sz="1500" b="0" i="0" u="none" dirty="0" smtClean="0">
                <a:solidFill>
                  <a:srgbClr val="F8FAFC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s</a:t>
            </a:r>
            <a:r>
              <a:rPr sz="1500" b="0" i="0" u="none" smtClean="0">
                <a:solidFill>
                  <a:srgbClr val="F8FAFC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: </a:t>
            </a:r>
            <a:r>
              <a:rPr lang="en-US" sz="1500" dirty="0" smtClean="0">
                <a:solidFill>
                  <a:srgbClr val="F8FAFC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B Baby </a:t>
            </a:r>
            <a:r>
              <a:rPr lang="en-US" sz="1500" dirty="0" err="1" smtClean="0">
                <a:solidFill>
                  <a:srgbClr val="F8FAFC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Suharshitha</a:t>
            </a:r>
            <a:r>
              <a:rPr lang="en-US" sz="1500" dirty="0" smtClean="0">
                <a:solidFill>
                  <a:srgbClr val="F8FAFC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 , </a:t>
            </a:r>
            <a:r>
              <a:rPr lang="en-US" sz="1500" dirty="0" err="1" smtClean="0">
                <a:solidFill>
                  <a:srgbClr val="F8FAFC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Palle</a:t>
            </a:r>
            <a:r>
              <a:rPr lang="en-US" sz="1500" dirty="0" smtClean="0">
                <a:solidFill>
                  <a:srgbClr val="F8FAFC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 </a:t>
            </a:r>
            <a:r>
              <a:rPr lang="en-US" sz="1500" dirty="0" err="1" smtClean="0">
                <a:solidFill>
                  <a:srgbClr val="F8FAFC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Amrutha</a:t>
            </a:r>
            <a:r>
              <a:rPr lang="en-US" sz="1500" dirty="0" smtClean="0">
                <a:solidFill>
                  <a:srgbClr val="F8FAFC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 </a:t>
            </a:r>
            <a:r>
              <a:rPr sz="1500" b="0" i="0" u="none" smtClean="0">
                <a:solidFill>
                  <a:srgbClr val="F8FAFC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 </a:t>
            </a:r>
            <a:endParaRPr lang="en-US" sz="1500" b="0" i="0" u="none" dirty="0" smtClean="0">
              <a:solidFill>
                <a:srgbClr val="F8FAFC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ctr">
              <a:lnSpc>
                <a:spcPts val="2025"/>
              </a:lnSpc>
            </a:pPr>
            <a:r>
              <a:rPr lang="en-US" sz="1500" dirty="0" smtClean="0">
                <a:solidFill>
                  <a:srgbClr val="F8FAFC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Batch </a:t>
            </a:r>
            <a:r>
              <a:rPr sz="1500" b="0" i="0" u="none" smtClean="0">
                <a:solidFill>
                  <a:srgbClr val="F8FAFC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No</a:t>
            </a:r>
            <a:r>
              <a:rPr sz="1500" b="0" i="0" u="none">
                <a:solidFill>
                  <a:srgbClr val="F8FAFC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: </a:t>
            </a:r>
            <a:r>
              <a:rPr lang="en-US" sz="1500" b="0" i="0" u="none" dirty="0" smtClean="0">
                <a:solidFill>
                  <a:srgbClr val="F8FAFC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 4</a:t>
            </a:r>
            <a:endParaRPr sz="1500" b="0" i="0" u="none">
              <a:solidFill>
                <a:srgbClr val="F8FAFC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4705349"/>
            <a:ext cx="11049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Lato"/>
              </a:rPr>
              <a:t>Course: </a:t>
            </a:r>
            <a:r>
              <a:rPr sz="1350" b="0" i="0" u="none" smtClean="0">
                <a:solidFill>
                  <a:srgbClr val="94A3B8"/>
                </a:solidFill>
                <a:latin typeface="Lato"/>
              </a:rPr>
              <a:t>CSA09</a:t>
            </a:r>
            <a:r>
              <a:rPr lang="en-US" sz="1350" b="0" i="0" u="none" dirty="0" smtClean="0">
                <a:solidFill>
                  <a:srgbClr val="94A3B8"/>
                </a:solidFill>
                <a:latin typeface="Lato"/>
              </a:rPr>
              <a:t>20</a:t>
            </a:r>
            <a:r>
              <a:rPr sz="1350" b="0" i="0" u="none" smtClean="0">
                <a:solidFill>
                  <a:srgbClr val="94A3B8"/>
                </a:solidFill>
                <a:latin typeface="Lato"/>
              </a:rPr>
              <a:t> </a:t>
            </a:r>
            <a:r>
              <a:rPr sz="1350" b="0" i="0" u="none">
                <a:solidFill>
                  <a:srgbClr val="94A3B8"/>
                </a:solidFill>
                <a:latin typeface="Lato"/>
              </a:rPr>
              <a:t>- Programming in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091112"/>
            <a:ext cx="11049000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Lato"/>
              </a:rPr>
              <a:t>Guide: </a:t>
            </a:r>
            <a:r>
              <a:rPr lang="en-US" sz="1350" dirty="0" smtClean="0">
                <a:solidFill>
                  <a:srgbClr val="94A3B8"/>
                </a:solidFill>
                <a:latin typeface="Lato"/>
              </a:rPr>
              <a:t>Dr M </a:t>
            </a:r>
            <a:r>
              <a:rPr lang="en-US" sz="1350" dirty="0" err="1" smtClean="0">
                <a:solidFill>
                  <a:srgbClr val="94A3B8"/>
                </a:solidFill>
                <a:latin typeface="Lato"/>
              </a:rPr>
              <a:t>Ramkumar</a:t>
            </a:r>
            <a:r>
              <a:rPr sz="1350" b="0" i="0" u="none" smtClean="0">
                <a:solidFill>
                  <a:srgbClr val="94A3B8"/>
                </a:solidFill>
                <a:latin typeface="Lato"/>
              </a:rPr>
              <a:t>  </a:t>
            </a:r>
            <a:endParaRPr lang="en-US" sz="1350" b="0" i="0" u="none" dirty="0" smtClean="0">
              <a:solidFill>
                <a:srgbClr val="94A3B8"/>
              </a:solidFill>
              <a:latin typeface="Lato"/>
            </a:endParaRPr>
          </a:p>
          <a:p>
            <a:pPr algn="ctr">
              <a:lnSpc>
                <a:spcPts val="2025"/>
              </a:lnSpc>
            </a:pPr>
            <a:r>
              <a:rPr sz="1350" b="0" i="0" u="none" smtClean="0">
                <a:solidFill>
                  <a:srgbClr val="94A3B8"/>
                </a:solidFill>
                <a:latin typeface="Lato"/>
              </a:rPr>
              <a:t>Review </a:t>
            </a:r>
            <a:r>
              <a:rPr sz="1350" b="0" i="0" u="none">
                <a:solidFill>
                  <a:srgbClr val="94A3B8"/>
                </a:solidFill>
                <a:latin typeface="Lato"/>
              </a:rPr>
              <a:t>Number: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95525"/>
            <a:ext cx="3492400" cy="3267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650" y="2295525"/>
            <a:ext cx="3492549" cy="3267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950" y="2295525"/>
            <a:ext cx="3492400" cy="3267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638425"/>
            <a:ext cx="5715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286125"/>
            <a:ext cx="294693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0F6FC"/>
                </a:solidFill>
                <a:latin typeface="Poppins"/>
              </a:rPr>
              <a:t>Core Mechanics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10000"/>
            <a:ext cx="28066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8B949E"/>
                </a:solidFill>
                <a:latin typeface="Lato"/>
              </a:rPr>
              <a:t>A "one-tap" side-scrolling survival game where the player controls a bird navigating through narrow gaps.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550" y="2638425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92550" y="3286125"/>
            <a:ext cx="294708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0F6FC"/>
                </a:solidFill>
                <a:latin typeface="Poppins"/>
              </a:rPr>
              <a:t>Addictive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2550" y="3810000"/>
            <a:ext cx="280674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8B949E"/>
                </a:solidFill>
                <a:latin typeface="Lato"/>
              </a:rPr>
              <a:t>Simple tap to jump against constant downward gravity. The loop is short, high-stakes, and infinitely repeatable.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0850" y="2638425"/>
            <a:ext cx="40005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0850" y="3286125"/>
            <a:ext cx="294693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0F6FC"/>
                </a:solidFill>
                <a:latin typeface="Poppins"/>
              </a:rPr>
              <a:t>Win/Loss Condition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0850" y="3810000"/>
            <a:ext cx="2806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0F6FC"/>
                </a:solidFill>
                <a:latin typeface="Lato"/>
              </a:rPr>
              <a:t>Goal: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Pass as many pipes as possible. </a:t>
            </a:r>
            <a:r>
              <a:rPr sz="1500" b="1" i="0" u="none">
                <a:solidFill>
                  <a:srgbClr val="F0F6FC"/>
                </a:solidFill>
                <a:latin typeface="Lato"/>
              </a:rPr>
              <a:t>Lose: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Hit a pipe, the ground, or the sky ceiling.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58A6FF"/>
                </a:solidFill>
                <a:latin typeface="Poppins"/>
              </a:rPr>
              <a:t>GAME CONCEPT OVERVIEW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119312"/>
            <a:ext cx="523875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609850"/>
            <a:ext cx="550068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0F6FC"/>
                </a:solidFill>
                <a:latin typeface="Poppins"/>
              </a:rPr>
              <a:t>Analysis of Flappy Bird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076575"/>
            <a:ext cx="523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8B949E"/>
                </a:solidFill>
                <a:latin typeface="Lato"/>
              </a:rPr>
              <a:t>Original success relied on </a:t>
            </a:r>
            <a:r>
              <a:rPr sz="1500" b="1" i="0" u="none">
                <a:solidFill>
                  <a:srgbClr val="F0F6FC"/>
                </a:solidFill>
                <a:latin typeface="Lato"/>
              </a:rPr>
              <a:t>"Punishing Simplicity"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—easy to understand but extremely hard to master.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87667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8B949E"/>
                </a:solidFill>
                <a:latin typeface="La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876675"/>
            <a:ext cx="48577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0F6FC"/>
                </a:solidFill>
                <a:latin typeface="Lato"/>
              </a:rPr>
              <a:t>Reproduced: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Gravity-velocity physics, collision hitboxes, and random pipe heights.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48627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8B949E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486275"/>
            <a:ext cx="48577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0F6FC"/>
                </a:solidFill>
                <a:latin typeface="Lato"/>
              </a:rPr>
              <a:t>Simplified: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Use of Java Graphics2D instead of a heavy physics engine; AABB (Rectangular) collision logic.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58A6FF"/>
                </a:solidFill>
                <a:latin typeface="Poppins"/>
              </a:rPr>
              <a:t>REFERENCE GAME STUDY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1543050"/>
            <a:ext cx="5248275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0125" y="2095500"/>
            <a:ext cx="106203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0F6FC"/>
                </a:solidFill>
                <a:latin typeface="Lato"/>
              </a:rPr>
              <a:t>Multithreaded Real-time Loops: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Implementing a consistent 60FPS refresh rate without blocking the UI.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125" y="3157537"/>
            <a:ext cx="106203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0F6FC"/>
                </a:solidFill>
                <a:latin typeface="Lato"/>
              </a:rPr>
              <a:t>Collision Detection Logic: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Real-time overlap calculation between Bird and Pipe entities.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4157662"/>
            <a:ext cx="106203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0F6FC"/>
                </a:solidFill>
                <a:latin typeface="Lato"/>
              </a:rPr>
              <a:t>Custom 2D Rendering: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Direct manipulation of Java AWT Graphics2D for high-performance redraws.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5229225"/>
            <a:ext cx="106203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0F6FC"/>
                </a:solidFill>
                <a:latin typeface="Lato"/>
              </a:rPr>
              <a:t>JDBC Persistence: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Managing a persistent leaderboard using SQL connectivity for high scores.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095500"/>
            <a:ext cx="22860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3214687"/>
            <a:ext cx="28575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4214812"/>
            <a:ext cx="25717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5229225"/>
            <a:ext cx="200025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58A6FF"/>
                </a:solidFill>
                <a:latin typeface="Poppins"/>
              </a:rPr>
              <a:t>TARGETED LEARNING OUTCOMES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19312"/>
            <a:ext cx="52387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2138362"/>
            <a:ext cx="5200650" cy="3581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81750" y="2400300"/>
            <a:ext cx="550068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0F6FC"/>
                </a:solidFill>
                <a:latin typeface="Poppins"/>
              </a:rPr>
              <a:t>Data Flow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2867025"/>
            <a:ext cx="523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0F6FC"/>
                </a:solidFill>
                <a:latin typeface="Lato"/>
              </a:rPr>
              <a:t>1. Input: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Keyboard events trigger velocity changes in the Bird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3667125"/>
            <a:ext cx="523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0F6FC"/>
                </a:solidFill>
                <a:latin typeface="Lato"/>
              </a:rPr>
              <a:t>2. Game Loop: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Background thread updates coordinates and checks Collision Engine.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0" y="4467225"/>
            <a:ext cx="5238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0F6FC"/>
                </a:solidFill>
                <a:latin typeface="Lato"/>
              </a:rPr>
              <a:t>3. Renderer: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Redraws updated models using Double Buffering.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0" y="4962525"/>
            <a:ext cx="5238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0F6FC"/>
                </a:solidFill>
                <a:latin typeface="Lato"/>
              </a:rPr>
              <a:t>4. DB Layer: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Writes score to MySQL on the "Game Over" 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58A6FF"/>
                </a:solidFill>
                <a:latin typeface="Poppins"/>
              </a:rPr>
              <a:t>SYSTEM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3162"/>
            <a:ext cx="3492400" cy="2971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650" y="2443162"/>
            <a:ext cx="3492549" cy="2971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950" y="2443162"/>
            <a:ext cx="3492400" cy="2971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786062"/>
            <a:ext cx="3429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433762"/>
            <a:ext cx="294693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0F6FC"/>
                </a:solidFill>
                <a:latin typeface="Poppins"/>
              </a:rPr>
              <a:t>Swing/AWT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57637"/>
            <a:ext cx="2806600" cy="923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8B949E"/>
                </a:solidFill>
                <a:latin typeface="Lato"/>
              </a:rPr>
              <a:t>Used for building the game window and utilizing the robust Graphics2D library for sprites.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550" y="2786062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92550" y="3433762"/>
            <a:ext cx="294708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0F6FC"/>
                </a:solidFill>
                <a:latin typeface="Poppins"/>
              </a:rPr>
              <a:t>ArrayList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2550" y="3957637"/>
            <a:ext cx="280674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8B949E"/>
                </a:solidFill>
                <a:latin typeface="Lato"/>
              </a:rPr>
              <a:t>Chosen for the </a:t>
            </a:r>
            <a:r>
              <a:rPr sz="1500" b="1" i="0" u="none">
                <a:solidFill>
                  <a:srgbClr val="F0F6FC"/>
                </a:solidFill>
                <a:latin typeface="Lato"/>
              </a:rPr>
              <a:t>Collections Framework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to manage an infinite stream of dynamic pipe objects.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0850" y="2786062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0850" y="3433762"/>
            <a:ext cx="294693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0F6FC"/>
                </a:solidFill>
                <a:latin typeface="Poppins"/>
              </a:rPr>
              <a:t>MySQL + JDBC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0850" y="3957637"/>
            <a:ext cx="2806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8B949E"/>
                </a:solidFill>
                <a:latin typeface="Lato"/>
              </a:rPr>
              <a:t>Provides permanent storage for players' names and high scores beyond individual game sessions.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58A6FF"/>
                </a:solidFill>
                <a:latin typeface="Poppins"/>
              </a:rPr>
              <a:t>TECH STACK &amp; WHY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119312"/>
            <a:ext cx="52387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86037"/>
            <a:ext cx="5238750" cy="1695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471987"/>
            <a:ext cx="523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8B949E"/>
                </a:solidFill>
                <a:latin typeface="Lato"/>
              </a:rPr>
              <a:t>The table will record the score at the exact moment of collision (Game Over).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138362"/>
            <a:ext cx="5200650" cy="3581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58A6FF"/>
                </a:solidFill>
                <a:latin typeface="Poppins"/>
              </a:rPr>
              <a:t>PROPOSED DATABASE SCHEMA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167062"/>
            <a:ext cx="17716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0"/>
              </a:lnSpc>
            </a:pPr>
            <a:r>
              <a:rPr sz="12000" b="1" i="0" u="none">
                <a:solidFill>
                  <a:srgbClr val="00FF41"/>
                </a:solidFill>
                <a:latin typeface="La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9400" y="2733675"/>
            <a:ext cx="924115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0F6FC"/>
                </a:solidFill>
                <a:latin typeface="Poppins"/>
              </a:rPr>
              <a:t>Dedicated Game Thread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9400" y="3200400"/>
            <a:ext cx="8801100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8B949E"/>
                </a:solidFill>
                <a:latin typeface="Lato"/>
              </a:rPr>
              <a:t>The entire game logic (physics, movement, collisions) will run on a separate Thread. This prevents the </a:t>
            </a:r>
            <a:r>
              <a:rPr sz="1500" b="1" i="0" u="none">
                <a:solidFill>
                  <a:srgbClr val="F0F6FC"/>
                </a:solidFill>
                <a:latin typeface="Lato"/>
              </a:rPr>
              <a:t>GUI Freeze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that occurs if long-running loops or Thread.sleep() were executed on the Event Dispatch Thread (EDT).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62275" y="4324350"/>
            <a:ext cx="86582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>
                <a:solidFill>
                  <a:srgbClr val="8B949E"/>
                </a:solidFill>
                <a:latin typeface="Lato"/>
              </a:rPr>
              <a:t>"Separating Logic from Presentation ensures smooth animation while remaining responsive to user keyboard inputs."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9400" y="4324350"/>
            <a:ext cx="38100" cy="6096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58A6FF"/>
                </a:solidFill>
                <a:latin typeface="Poppins"/>
              </a:rPr>
              <a:t>MULTITHREADING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52925"/>
            <a:ext cx="11049000" cy="1704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52625"/>
            <a:ext cx="5238750" cy="2009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1800225"/>
            <a:ext cx="5238750" cy="2314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695825"/>
            <a:ext cx="1088136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0F6FC"/>
                </a:solidFill>
                <a:latin typeface="Poppins"/>
              </a:rPr>
              <a:t>Thread Interrupts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9700"/>
            <a:ext cx="10363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0F6FC"/>
                </a:solidFill>
                <a:latin typeface="Lato"/>
              </a:rPr>
              <a:t>InterruptedException: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Safely shuts down the game loop thread during program exit or window closing.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95525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0F6FC"/>
                </a:solidFill>
                <a:latin typeface="Poppins"/>
              </a:rPr>
              <a:t>SQL Connectivity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9400"/>
            <a:ext cx="4552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0F6FC"/>
                </a:solidFill>
                <a:latin typeface="Lato"/>
              </a:rPr>
              <a:t>SQLException: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Handled with try-catch blocks to ensure the game doesn't crash if the database is offline.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2143125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0F6FC"/>
                </a:solidFill>
                <a:latin typeface="Poppins"/>
              </a:rPr>
              <a:t>Asset Loading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2667000"/>
            <a:ext cx="4552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0F6FC"/>
                </a:solidFill>
                <a:latin typeface="Lato"/>
              </a:rPr>
              <a:t>IOException: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Gracefully manages missing bird or pipe sprites by reverting to colored rectangles if files fail to load.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58A6FF"/>
                </a:solidFill>
                <a:latin typeface="Poppins"/>
              </a:rPr>
              <a:t>EXCEPTION HANDLING 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705" y="3209925"/>
            <a:ext cx="47625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1385" y="3209925"/>
            <a:ext cx="47625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4066" y="3209925"/>
            <a:ext cx="476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746" y="3209925"/>
            <a:ext cx="476250" cy="4762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448050"/>
            <a:ext cx="11049000" cy="3810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0733" y="3876675"/>
            <a:ext cx="255219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58A6FF"/>
                </a:solidFill>
                <a:latin typeface="Poppins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24350"/>
            <a:ext cx="243066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8B949E"/>
                </a:solidFill>
                <a:latin typeface="Lato"/>
              </a:rPr>
              <a:t>GUI Skeleton &amp; Bird Physics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413" y="3876675"/>
            <a:ext cx="255219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58A6FF"/>
                </a:solidFill>
                <a:latin typeface="Poppins"/>
              </a:rP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4180" y="4324350"/>
            <a:ext cx="243066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8B949E"/>
                </a:solidFill>
                <a:latin typeface="Lato"/>
              </a:rPr>
              <a:t>Pipe Generation &amp; Collision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6094" y="3876675"/>
            <a:ext cx="255219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58A6FF"/>
                </a:solidFill>
                <a:latin typeface="Poppins"/>
              </a:rPr>
              <a:t>Week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6860" y="4324350"/>
            <a:ext cx="243066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8B949E"/>
                </a:solidFill>
                <a:latin typeface="Lato"/>
              </a:rPr>
              <a:t>JDBC Setup &amp; Leaderboard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8774" y="3876675"/>
            <a:ext cx="255219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58A6FF"/>
                </a:solidFill>
                <a:latin typeface="Poppins"/>
              </a:rPr>
              <a:t>Week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541" y="4324350"/>
            <a:ext cx="243066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8B949E"/>
                </a:solidFill>
                <a:latin typeface="Lato"/>
              </a:rPr>
              <a:t>Difficulty Tuning &amp; Final Polish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58A6FF"/>
                </a:solidFill>
                <a:latin typeface="Poppins"/>
              </a:rPr>
              <a:t>WORK PLAN &amp; TIMELINE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119312"/>
            <a:ext cx="52387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138362"/>
            <a:ext cx="5200650" cy="3581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81125" y="2733675"/>
            <a:ext cx="44291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0F6FC"/>
                </a:solidFill>
                <a:latin typeface="Lato"/>
              </a:rPr>
              <a:t>Hitbox Precision: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Handling collision between rectangular pipes and non-rectangular bird shapes.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1125" y="3581400"/>
            <a:ext cx="44291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0F6FC"/>
                </a:solidFill>
                <a:latin typeface="Lato"/>
              </a:rPr>
              <a:t>Frame Rate Sync: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Keeping animation smooth across different hardware performance levels.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1125" y="4429125"/>
            <a:ext cx="44291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0F6FC"/>
                </a:solidFill>
                <a:latin typeface="Lato"/>
              </a:rPr>
              <a:t>Thread Safety:</a:t>
            </a:r>
            <a:r>
              <a:rPr sz="1500" b="0" i="0" u="none">
                <a:solidFill>
                  <a:srgbClr val="8B949E"/>
                </a:solidFill>
                <a:latin typeface="Lato"/>
              </a:rPr>
              <a:t> Safely updating shared state variables between the logic thread and drawing thread.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2771775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3619500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4467225"/>
            <a:ext cx="200025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58A6FF"/>
                </a:solidFill>
                <a:latin typeface="Poppins"/>
              </a:rPr>
              <a:t>CHALLENGES &amp; Q&amp;A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166193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149054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933825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313952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13952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924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924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7090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7090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14736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309068"/>
            <a:ext cx="9953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8B949E"/>
                </a:solidFill>
                <a:latin typeface="Lato"/>
              </a:rPr>
              <a:t>https://market-resized.envatousercontent.com/previews/files/181055324/flappy-winter-bird-game-character-sprite-sheet-sidescroller-game-asset-animation-gui-mobile-games-gameart.jpg?w=590&amp;h=590&amp;cf_fit=crop&amp;crop=top&amp;format=auto&amp;q=85&amp;s=6d1065bca2cda06338bf71f911faf83d05d9a3616b42164428f0772c7d3e5376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752873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8B949E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graphicriver.net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98477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3291929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8B949E"/>
                </a:solidFill>
                <a:latin typeface="Lato"/>
              </a:rPr>
              <a:t>https://media.geeksforgeeks.org/wp-content/uploads/20250304153519827498/Data-Flow-Diagram.webp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537644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8B949E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www.geeksforgeeks.org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83248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4076700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8B949E"/>
                </a:solidFill>
                <a:latin typeface="Lato"/>
              </a:rPr>
              <a:t>https://storage.needpix.com/rsynced_images/database-schema-1895779_1280.png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4322415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8B949E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www.needpix.com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967138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4861470"/>
            <a:ext cx="9953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8B949E"/>
                </a:solidFill>
                <a:latin typeface="Lato"/>
              </a:rPr>
              <a:t>https://static.vecteezy.com/system/resources/thumbnails/074/124/752/large/retro-pixel-art-game-over-screen-with-glitch-effect-arcade-style-old-school-game-display-free-video.jpg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5305276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8B949E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www.vecteezy.com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58A6FF"/>
                </a:solidFill>
                <a:latin typeface="Poppins"/>
              </a:rPr>
              <a:t>IMAGE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586</Words>
  <Application>Microsoft Macintosh PowerPoint</Application>
  <PresentationFormat>Custom</PresentationFormat>
  <Paragraphs>75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Dell</cp:lastModifiedBy>
  <cp:revision>3</cp:revision>
  <dcterms:created xsi:type="dcterms:W3CDTF">2013-01-27T09:14:16Z</dcterms:created>
  <dcterms:modified xsi:type="dcterms:W3CDTF">2026-07-31T17:45:10Z</dcterms:modified>
  <cp:category/>
</cp:coreProperties>
</file>